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five evidence-based techniques that help you retain information more effectively and make better use of limited study time. Each one is grounded in decades of cognitive science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what we will cover. Each technique targets a different part of the learning process, and they work best when used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recall forces the brain to reconstruct information rather than passively recognise it. The effort of retrieval is what strengthens long-term retention. This is sometimes called the testing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Cramming produces short-term recall but poor retention. Spreading reviews over time makes each session progressively shorter as the material becomes more stable. The key insight is that forgetting a little before each review is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after physicist Richard Feynman. The point is not to simplify for others but to expose your own blind spots. If you cannot explain something simply, you do not yet fully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on study time is usually not motivation but available hours. Audio learning removes that constraint by using time that would otherwise be unavailable. Tools like SlideNotesTTS make the conversion straightforward.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technique works in isolation. Used together, they cover the full cycle from initial learning through consolidation to fluent recall. Start with one and add the others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on all of these techniques is consistent and goes back decades. The difficulty is habit, not knowledge. Pick one technique, apply it for two weeks, then layer in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presentation. Slides and references available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Effective Study Techniques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333333"/>
                </a:solidFill>
              </a:rPr>
              <a:t>A practical guide to getting more from your learning time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Contents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333333"/>
                </a:solidFill>
              </a:rPr>
              <a:t>Active Recall</a:t>
            </a:r>
            <a:endParaRPr lang="en-US" sz="1800" dirty="0"/>
          </a:p>
          <a:p>
            <a:pPr marL="342900" indent="-342900">
              <a:buSzPct val="100000"/>
              <a:buChar char="•"/>
            </a:pPr>
            <a:r>
              <a:rPr lang="en-US" sz="1800" dirty="0">
                <a:solidFill>
                  <a:srgbClr val="333333"/>
                </a:solidFill>
              </a:rPr>
              <a:t>Spaced Repetition</a:t>
            </a:r>
            <a:endParaRPr lang="en-US" sz="1800" dirty="0"/>
          </a:p>
          <a:p>
            <a:pPr marL="342900" indent="-342900">
              <a:buSzPct val="100000"/>
              <a:buChar char="•"/>
            </a:pPr>
            <a:r>
              <a:rPr lang="en-US" sz="1800" dirty="0">
                <a:solidFill>
                  <a:srgbClr val="333333"/>
                </a:solidFill>
              </a:rPr>
              <a:t>The Feynman Technique</a:t>
            </a:r>
            <a:endParaRPr lang="en-US" sz="1800" dirty="0"/>
          </a:p>
          <a:p>
            <a:pPr marL="342900" indent="-342900">
              <a:buSzPct val="100000"/>
              <a:buChar char="•"/>
            </a:pPr>
            <a:r>
              <a:rPr lang="en-US" sz="1800" dirty="0">
                <a:solidFill>
                  <a:srgbClr val="333333"/>
                </a:solidFill>
              </a:rPr>
              <a:t>Audio Learning</a:t>
            </a:r>
            <a:endParaRPr lang="en-US" sz="1800" dirty="0"/>
          </a:p>
          <a:p>
            <a:pPr marL="342900" indent="-342900">
              <a:buSzPct val="100000"/>
              <a:buChar char="•"/>
            </a:pPr>
            <a:r>
              <a:rPr lang="en-US" sz="1800" dirty="0">
                <a:solidFill>
                  <a:srgbClr val="333333"/>
                </a:solidFill>
              </a:rPr>
              <a:t>Combining Methods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Active Recall</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333333"/>
                </a:solidFill>
              </a:rPr>
              <a:t>Close your notes and retrieve the material from memory.</a:t>
            </a:r>
            <a:endParaRPr lang="en-US" sz="1800" dirty="0"/>
          </a:p>
          <a:p>
            <a:pPr marL="342900" indent="-342900">
              <a:buSzPct val="100000"/>
              <a:buChar char="•"/>
            </a:pPr>
            <a:r>
              <a:rPr lang="en-US" sz="1800" dirty="0">
                <a:solidFill>
                  <a:srgbClr val="333333"/>
                </a:solidFill>
              </a:rPr>
              <a:t>Testing yourself is far more effective than re-reading or highlighting.</a:t>
            </a:r>
            <a:endParaRPr lang="en-US" sz="1800" dirty="0"/>
          </a:p>
          <a:p>
            <a:pPr marL="342900" indent="-342900">
              <a:buSzPct val="100000"/>
              <a:buChar char="•"/>
            </a:pPr>
            <a:r>
              <a:rPr lang="en-US" sz="1800" dirty="0">
                <a:solidFill>
                  <a:srgbClr val="333333"/>
                </a:solidFill>
              </a:rPr>
              <a:t>Flashcards, practice questions, and blank-page summaries all work well.</a:t>
            </a:r>
            <a:endParaRPr lang="en-US" sz="1800" dirty="0"/>
          </a:p>
          <a:p>
            <a:pPr marL="342900" indent="-342900">
              <a:buSzPct val="100000"/>
              <a:buChar char="•"/>
            </a:pPr>
            <a:r>
              <a:rPr lang="en-US" sz="1800" dirty="0">
                <a:solidFill>
                  <a:srgbClr val="333333"/>
                </a:solidFill>
              </a:rPr>
              <a:t>The harder the retrieval, the stronger the memory trace.</a:t>
            </a:r>
            <a:endParaRPr lang="en-US" sz="1800" dirty="0"/>
          </a:p>
          <a:p>
            <a:pPr marL="342900" indent="-342900">
              <a:spcBef>
                <a:spcPts val="1400"/>
              </a:spcBef>
              <a:buSzPct val="100000"/>
              <a:buChar char="•"/>
            </a:pPr>
            <a:r>
              <a:rPr lang="en-US" sz="100" dirty="0">
                <a:solidFill>
                  <a:srgbClr val="333333"/>
                </a:solidFill>
              </a:rPr>
              <a:t> </a:t>
            </a:r>
            <a:r>
              <a:rPr lang="en-US" sz="1800" b="1" dirty="0">
                <a:solidFill>
                  <a:srgbClr val="333333"/>
                </a:solidFill>
              </a:rPr>
              <a:t>Example:</a:t>
            </a:r>
            <a:r>
              <a:rPr lang="en-US" sz="1800" dirty="0">
                <a:solidFill>
                  <a:srgbClr val="333333"/>
                </a:solidFill>
              </a:rPr>
              <a:t> Topic is "causes of World War I", close your notes and write freely. You recall nationalism, alliances, and assassination but miss the economic pressures. That gap tells you exactly what to re-read next.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Spaced Repetition</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333333"/>
                </a:solidFill>
              </a:rPr>
              <a:t>Review material at increasing intervals over time.</a:t>
            </a:r>
            <a:endParaRPr lang="en-US" sz="1800" dirty="0"/>
          </a:p>
          <a:p>
            <a:pPr marL="342900" indent="-342900">
              <a:buSzPct val="100000"/>
              <a:buChar char="•"/>
            </a:pPr>
            <a:r>
              <a:rPr lang="en-US" sz="1800" dirty="0">
                <a:solidFill>
                  <a:srgbClr val="333333"/>
                </a:solidFill>
              </a:rPr>
              <a:t>Revisit after one day, then three days, then a week, then a month.</a:t>
            </a:r>
            <a:endParaRPr lang="en-US" sz="1800" dirty="0"/>
          </a:p>
          <a:p>
            <a:pPr marL="342900" indent="-342900">
              <a:buSzPct val="100000"/>
              <a:buChar char="•"/>
            </a:pPr>
            <a:r>
              <a:rPr lang="en-US" sz="1800" dirty="0">
                <a:solidFill>
                  <a:srgbClr val="333333"/>
                </a:solidFill>
              </a:rPr>
              <a:t>Each successful retrieval resets and extends the next review interval.</a:t>
            </a:r>
            <a:endParaRPr lang="en-US" sz="1800" dirty="0"/>
          </a:p>
          <a:p>
            <a:pPr marL="342900" indent="-342900">
              <a:buSzPct val="100000"/>
              <a:buChar char="•"/>
            </a:pPr>
            <a:r>
              <a:rPr lang="en-US" sz="1800" dirty="0">
                <a:solidFill>
                  <a:srgbClr val="333333"/>
                </a:solidFill>
              </a:rPr>
              <a:t>Apps like Anki automate the scheduling for you.</a:t>
            </a:r>
            <a:endParaRPr lang="en-US" sz="1800" dirty="0"/>
          </a:p>
          <a:p>
            <a:pPr marL="342900" indent="-342900">
              <a:spcBef>
                <a:spcPts val="1400"/>
              </a:spcBef>
              <a:buSzPct val="100000"/>
              <a:buChar char="•"/>
            </a:pPr>
            <a:r>
              <a:rPr lang="en-US" sz="100" dirty="0">
                <a:solidFill>
                  <a:srgbClr val="333333"/>
                </a:solidFill>
              </a:rPr>
              <a:t> </a:t>
            </a:r>
            <a:r>
              <a:rPr lang="en-US" sz="1800" b="1" dirty="0">
                <a:solidFill>
                  <a:srgbClr val="333333"/>
                </a:solidFill>
              </a:rPr>
              <a:t>Example:</a:t>
            </a:r>
            <a:r>
              <a:rPr lang="en-US" sz="1800" dirty="0">
                <a:solidFill>
                  <a:srgbClr val="333333"/>
                </a:solidFill>
              </a:rPr>
              <a:t> 50 vocabulary cards take 30 minutes on day one. By day 5, only the difficult cards remain, and by day 30 the session takes under 2 minutes. Total time invested is less than a single cramming session, with far better retention.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The Feynman Technique</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333333"/>
                </a:solidFill>
              </a:rPr>
              <a:t>Choose a concept and write it down as a topic heading.</a:t>
            </a:r>
            <a:endParaRPr lang="en-US" sz="1800" dirty="0"/>
          </a:p>
          <a:p>
            <a:pPr marL="342900" indent="-342900">
              <a:buSzPct val="100000"/>
              <a:buChar char="•"/>
            </a:pPr>
            <a:r>
              <a:rPr lang="en-US" sz="1800" dirty="0">
                <a:solidFill>
                  <a:srgbClr val="333333"/>
                </a:solidFill>
              </a:rPr>
              <a:t>Explain it in plain language as if teaching someone unfamiliar with it.</a:t>
            </a:r>
            <a:endParaRPr lang="en-US" sz="1800" dirty="0"/>
          </a:p>
          <a:p>
            <a:pPr marL="342900" indent="-342900">
              <a:buSzPct val="100000"/>
              <a:buChar char="•"/>
            </a:pPr>
            <a:r>
              <a:rPr lang="en-US" sz="1800" dirty="0">
                <a:solidFill>
                  <a:srgbClr val="333333"/>
                </a:solidFill>
              </a:rPr>
              <a:t>Identify gaps where your explanation breaks down or becomes vague.</a:t>
            </a:r>
            <a:endParaRPr lang="en-US" sz="1800" dirty="0"/>
          </a:p>
          <a:p>
            <a:pPr marL="342900" indent="-342900">
              <a:buSzPct val="100000"/>
              <a:buChar char="•"/>
            </a:pPr>
            <a:r>
              <a:rPr lang="en-US" sz="1800" dirty="0">
                <a:solidFill>
                  <a:srgbClr val="333333"/>
                </a:solidFill>
              </a:rPr>
              <a:t>Return to the source material and fill exactly those gaps.</a:t>
            </a:r>
            <a:endParaRPr lang="en-US" sz="1800" dirty="0"/>
          </a:p>
          <a:p>
            <a:pPr marL="342900" indent="-342900">
              <a:spcBef>
                <a:spcPts val="1400"/>
              </a:spcBef>
              <a:buSzPct val="100000"/>
              <a:buChar char="•"/>
            </a:pPr>
            <a:r>
              <a:rPr lang="en-US" sz="100" dirty="0">
                <a:solidFill>
                  <a:srgbClr val="333333"/>
                </a:solidFill>
              </a:rPr>
              <a:t> </a:t>
            </a:r>
            <a:r>
              <a:rPr lang="en-US" sz="1800" b="1" dirty="0">
                <a:solidFill>
                  <a:srgbClr val="333333"/>
                </a:solidFill>
              </a:rPr>
              <a:t>Example:</a:t>
            </a:r>
            <a:r>
              <a:rPr lang="en-US" sz="1800" dirty="0">
                <a:solidFill>
                  <a:srgbClr val="333333"/>
                </a:solidFill>
              </a:rPr>
              <a:t> Topic is "supply and demand". Attempt: "when price rises, fewer people buy", but you cannot explain why the curve shifts. That gap sends you back to one specific section, not the whole chapter.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Audio Learning</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dirty="0">
                <a:solidFill>
                  <a:srgbClr val="333333"/>
                </a:solidFill>
              </a:rPr>
              <a:t>Convert notes and slide decks to audio files using text-to-speech tools.</a:t>
            </a:r>
            <a:endParaRPr lang="en-US" sz="1800" dirty="0"/>
          </a:p>
          <a:p>
            <a:pPr marL="342900" indent="-342900">
              <a:buSzPct val="100000"/>
              <a:buChar char="•"/>
            </a:pPr>
            <a:r>
              <a:rPr lang="en-US" sz="1800" dirty="0">
                <a:solidFill>
                  <a:srgbClr val="333333"/>
                </a:solidFill>
              </a:rPr>
              <a:t>Listen during commutes, exercise, cooking, or other downtime.</a:t>
            </a:r>
            <a:endParaRPr lang="en-US" sz="1800" dirty="0"/>
          </a:p>
          <a:p>
            <a:pPr marL="342900" indent="-342900">
              <a:buSzPct val="100000"/>
              <a:buChar char="•"/>
            </a:pPr>
            <a:r>
              <a:rPr lang="en-US" sz="1800" dirty="0">
                <a:solidFill>
                  <a:srgbClr val="333333"/>
                </a:solidFill>
              </a:rPr>
              <a:t>Extends available study time without adding screen time or effort.</a:t>
            </a:r>
            <a:endParaRPr lang="en-US" sz="1800" dirty="0"/>
          </a:p>
          <a:p>
            <a:pPr marL="342900" indent="-342900">
              <a:buSzPct val="100000"/>
              <a:buChar char="•"/>
            </a:pPr>
            <a:r>
              <a:rPr lang="en-US" sz="1800" dirty="0">
                <a:solidFill>
                  <a:srgbClr val="333333"/>
                </a:solidFill>
              </a:rPr>
              <a:t>Works especially well for review, not first exposure to new material.</a:t>
            </a:r>
            <a:endParaRPr lang="en-US" sz="1800" dirty="0"/>
          </a:p>
          <a:p>
            <a:pPr marL="342900" indent="-342900">
              <a:spcBef>
                <a:spcPts val="1400"/>
              </a:spcBef>
              <a:buSzPct val="100000"/>
              <a:buChar char="•"/>
            </a:pPr>
            <a:r>
              <a:rPr lang="en-US" sz="100" dirty="0">
                <a:solidFill>
                  <a:srgbClr val="333333"/>
                </a:solidFill>
              </a:rPr>
              <a:t> </a:t>
            </a:r>
            <a:r>
              <a:rPr lang="en-US" sz="1800" b="1" dirty="0">
                <a:solidFill>
                  <a:srgbClr val="333333"/>
                </a:solidFill>
              </a:rPr>
              <a:t>Example:</a:t>
            </a:r>
            <a:r>
              <a:rPr lang="en-US" sz="1800" dirty="0">
                <a:solidFill>
                  <a:srgbClr val="333333"/>
                </a:solidFill>
              </a:rPr>
              <a:t> A 25-minute commute plus a 15-minute lunch walk is 40 minutes of review per day. Over one semester that adds up to over 60 hours of additional study time. No extra desk time or screen time required.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Combining Methods</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b="1" dirty="0">
                <a:solidFill>
                  <a:srgbClr val="333333"/>
                </a:solidFill>
              </a:rPr>
              <a:t>Active recall</a:t>
            </a:r>
            <a:r>
              <a:rPr lang="en-US" sz="1800" dirty="0">
                <a:solidFill>
                  <a:srgbClr val="333333"/>
                </a:solidFill>
              </a:rPr>
              <a:t> surfaces what you do not yet know.</a:t>
            </a:r>
            <a:endParaRPr lang="en-US" sz="1800" dirty="0"/>
          </a:p>
          <a:p>
            <a:pPr>
              <a:spcBef>
                <a:spcPts val="1400"/>
              </a:spcBef>
            </a:pPr>
            <a:r>
              <a:rPr lang="en-US" sz="1800" b="1" dirty="0">
                <a:solidFill>
                  <a:srgbClr val="333333"/>
                </a:solidFill>
              </a:rPr>
              <a:t>Spaced repetition</a:t>
            </a:r>
            <a:r>
              <a:rPr lang="en-US" sz="1800" dirty="0">
                <a:solidFill>
                  <a:srgbClr val="333333"/>
                </a:solidFill>
              </a:rPr>
              <a:t> locks in what you have already learned.</a:t>
            </a:r>
            <a:endParaRPr lang="en-US" sz="1800" dirty="0"/>
          </a:p>
          <a:p>
            <a:pPr>
              <a:spcBef>
                <a:spcPts val="1400"/>
              </a:spcBef>
            </a:pPr>
            <a:r>
              <a:rPr lang="en-US" sz="1800" b="1" dirty="0">
                <a:solidFill>
                  <a:srgbClr val="333333"/>
                </a:solidFill>
              </a:rPr>
              <a:t>Feynman</a:t>
            </a:r>
            <a:r>
              <a:rPr lang="en-US" sz="1800" dirty="0">
                <a:solidFill>
                  <a:srgbClr val="333333"/>
                </a:solidFill>
              </a:rPr>
              <a:t> deepens understanding of weak and unclear areas.</a:t>
            </a:r>
            <a:endParaRPr lang="en-US" sz="1800" dirty="0"/>
          </a:p>
          <a:p>
            <a:pPr>
              <a:spcBef>
                <a:spcPts val="1400"/>
              </a:spcBef>
            </a:pPr>
            <a:r>
              <a:rPr lang="en-US" sz="1800" b="1" dirty="0">
                <a:solidFill>
                  <a:srgbClr val="333333"/>
                </a:solidFill>
              </a:rPr>
              <a:t>Audio</a:t>
            </a:r>
            <a:r>
              <a:rPr lang="en-US" sz="1800" dirty="0">
                <a:solidFill>
                  <a:srgbClr val="333333"/>
                </a:solidFill>
              </a:rPr>
              <a:t> extends the hours available for review each day.</a:t>
            </a:r>
            <a:endParaRPr lang="en-US" sz="1800" dirty="0"/>
          </a:p>
          <a:p>
            <a:pPr>
              <a:spcBef>
                <a:spcPts val="1400"/>
              </a:spcBef>
            </a:pPr>
            <a:r>
              <a:rPr lang="en-US" sz="1800" b="1" dirty="0">
                <a:solidFill>
                  <a:srgbClr val="333333"/>
                </a:solidFill>
              </a:rPr>
              <a:t>Example:</a:t>
            </a:r>
            <a:r>
              <a:rPr lang="en-US" sz="1800" dirty="0">
                <a:solidFill>
                  <a:srgbClr val="333333"/>
                </a:solidFill>
              </a:rPr>
              <a:t> Start each day with a short audio review during your commute. Follow up with 10 minutes of active recall at lunch. End the day with Anki: the session is short because spaced repetition does the work.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Summary</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pPr marL="342900" indent="-342900">
              <a:buSzPct val="100000"/>
              <a:buChar char="•"/>
            </a:pPr>
            <a:r>
              <a:rPr lang="en-US" sz="1800" b="1" dirty="0">
                <a:solidFill>
                  <a:srgbClr val="333333"/>
                </a:solidFill>
              </a:rPr>
              <a:t>Retrieve, not re-read:</a:t>
            </a:r>
            <a:r>
              <a:rPr lang="en-US" sz="1800" dirty="0">
                <a:solidFill>
                  <a:srgbClr val="333333"/>
                </a:solidFill>
              </a:rPr>
              <a:t> active recall beats passive review every time.</a:t>
            </a:r>
            <a:endParaRPr lang="en-US" sz="1800" dirty="0"/>
          </a:p>
          <a:p>
            <a:pPr marL="342900" indent="-342900">
              <a:buSzPct val="100000"/>
              <a:buChar char="•"/>
            </a:pPr>
            <a:r>
              <a:rPr lang="en-US" sz="1800" b="1" dirty="0">
                <a:solidFill>
                  <a:srgbClr val="333333"/>
                </a:solidFill>
              </a:rPr>
              <a:t>Spread it out:</a:t>
            </a:r>
            <a:r>
              <a:rPr lang="en-US" sz="1800" dirty="0">
                <a:solidFill>
                  <a:srgbClr val="333333"/>
                </a:solidFill>
              </a:rPr>
              <a:t> short, frequent sessions beat marathon cramming.</a:t>
            </a:r>
            <a:endParaRPr lang="en-US" sz="1800" dirty="0"/>
          </a:p>
          <a:p>
            <a:pPr marL="342900" indent="-342900">
              <a:buSzPct val="100000"/>
              <a:buChar char="•"/>
            </a:pPr>
            <a:r>
              <a:rPr lang="en-US" sz="1800" b="1" dirty="0">
                <a:solidFill>
                  <a:srgbClr val="333333"/>
                </a:solidFill>
              </a:rPr>
              <a:t>Explain it simply:</a:t>
            </a:r>
            <a:r>
              <a:rPr lang="en-US" sz="1800" dirty="0">
                <a:solidFill>
                  <a:srgbClr val="333333"/>
                </a:solidFill>
              </a:rPr>
              <a:t> if you cannot, find the gap and fix it.</a:t>
            </a:r>
            <a:endParaRPr lang="en-US" sz="1800" dirty="0"/>
          </a:p>
          <a:p>
            <a:pPr marL="342900" indent="-342900">
              <a:buSzPct val="100000"/>
              <a:buChar char="•"/>
            </a:pPr>
            <a:r>
              <a:rPr lang="en-US" sz="1800" b="1" dirty="0">
                <a:solidFill>
                  <a:srgbClr val="333333"/>
                </a:solidFill>
              </a:rPr>
              <a:t>Use dead time:</a:t>
            </a:r>
            <a:r>
              <a:rPr lang="en-US" sz="1800" dirty="0">
                <a:solidFill>
                  <a:srgbClr val="333333"/>
                </a:solidFill>
              </a:rPr>
              <a:t> audio turns commutes into study sessions.</a:t>
            </a:r>
            <a:endParaRPr lang="en-US" sz="1800" dirty="0"/>
          </a:p>
          <a:p>
            <a:pPr marL="342900" indent="-342900">
              <a:spcBef>
                <a:spcPts val="1400"/>
              </a:spcBef>
              <a:buSzPct val="100000"/>
              <a:buChar char="•"/>
            </a:pPr>
            <a:r>
              <a:rPr lang="en-US" sz="100" dirty="0">
                <a:solidFill>
                  <a:srgbClr val="333333"/>
                </a:solidFill>
              </a:rPr>
              <a:t> </a:t>
            </a:r>
            <a:r>
              <a:rPr lang="en-US" sz="1800" b="1" dirty="0">
                <a:solidFill>
                  <a:srgbClr val="333333"/>
                </a:solidFill>
              </a:rPr>
              <a:t>Example:</a:t>
            </a:r>
            <a:r>
              <a:rPr lang="en-US" sz="1800" dirty="0">
                <a:solidFill>
                  <a:srgbClr val="333333"/>
                </a:solidFill>
              </a:rPr>
              <a:t> Week before an exam, 30 minutes of active recall each day. Each session surfaces gaps. Fill them with targeted reading only. By exam day, each topic has been reviewed multiple times with minimal total effort.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8412480" cy="1005840"/>
          </a:xfrm>
          <a:prstGeom prst="rect">
            <a:avLst/>
          </a:prstGeom>
          <a:noFill/>
          <a:ln/>
        </p:spPr>
        <p:txBody>
          <a:bodyPr wrap="square" rtlCol="0" anchor="ctr"/>
          <a:lstStyle/>
          <a:p>
            <a:r>
              <a:rPr lang="en-US" sz="3200" b="1" dirty="0">
                <a:solidFill>
                  <a:srgbClr val="0969DA"/>
                </a:solidFill>
              </a:rPr>
              <a:t>Thank You</a:t>
            </a:r>
            <a:endParaRPr lang="en-US" sz="3200" dirty="0"/>
          </a:p>
        </p:txBody>
      </p:sp>
      <p:sp>
        <p:nvSpPr>
          <p:cNvPr id="3" name="Text 1"/>
          <p:cNvSpPr/>
          <p:nvPr/>
        </p:nvSpPr>
        <p:spPr>
          <a:xfrm>
            <a:off x="365760" y="1371600"/>
            <a:ext cx="8412480" cy="3474720"/>
          </a:xfrm>
          <a:prstGeom prst="rect">
            <a:avLst/>
          </a:prstGeom>
          <a:noFill/>
          <a:ln/>
        </p:spPr>
        <p:txBody>
          <a:bodyPr wrap="square" rtlCol="0" anchor="t"/>
          <a:lstStyle/>
          <a:p>
            <a:r>
              <a:rPr lang="en-US" sz="1800" dirty="0">
                <a:solidFill>
                  <a:srgbClr val="333333"/>
                </a:solidFill>
              </a:rPr>
              <a:t>Questions and discussion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2026-06-20T13:19:46Z</dcterms:created>
  <dcterms:modified xsi:type="dcterms:W3CDTF">2026-06-20T13:19:46Z</dcterms:modified>
</cp:coreProperties>
</file>